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3657600" cy="36576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UX CASE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Redesigning the Donation Funnel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UX audit and product plan for InAmigos Foundation's website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280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Bhumika Nathawat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UX Intern — InAmigos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for, and my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is a Section 8 registered non-profit (est. 2020, Chhattisgarh) running six initiatives — food &amp; clothing relief, child education, animal welfare, women's empowerment, environmental work, and employability training.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website is the primary channel for donations and volunteer sign-ups — making UX quality directly tied to funding and impact.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Product &amp; UX Intern, I independently audited the live site, identified UX gaps affecting the donation funnel, and produced this case study — followed by a redesigned demo of the highest-impact pages.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heuristic evaluation, funnel mapping, prioritization, annotated screenshots, wireframes, and a working prototype.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donation funnel breaks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933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“Understand what this org does”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D6891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933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a cause I care about”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0440" y="365760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9933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Detail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 enough to trust it”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2396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9933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2423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money in &lt;60 sec”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89720" y="365760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2874A6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each step of the funnel maps to a job the visitor is trying to do. A broken step isn't just “ugly” — it's a 100% drop-off point.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used in the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every page against Nielsen's usability heuristics — visibility of system status, error prevention, consistency, aesthetic-minimalist design.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1901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Mapping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the donor journey end-to-end (Home → Causes → Detail → Donate) to locate the exact step where users would drop off.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Jobs-to-be-Done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each page around the visitor's actual goal, not just its visual polish — surfaces functional gaps, not just cosmetic 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40965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Effort Prioritization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every finding on impact and build effort (a lightweight RICE-style pass) to produce an action-ordered backlog.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Homepage &amp; global elements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links injected above the header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 likely security compromise; risks search-engine penalties.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6891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lacks visual presence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944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icon-only mark weakens brand recall, especially on mobile.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6891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11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20240" y="35661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social links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9044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Twitter, Google, Pinterest icons point to generic homepages, not real profiles.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874A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2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0240" y="4526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uninterrupted homepage copy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projects and all certifications run into one paragraph with no visual break.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&amp; Events pages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page renders with no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2029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funnel step is a dead end — header, breadcrumb, footer, and nothing else.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6891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20240" y="27432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per-cause donate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081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populated, each cause needs its own description, image, and direct donate action.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874A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20240" y="3794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listing looks inactive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events shown, all from early 2025 — no recent or upcoming activity visible.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 the site's single most valuable page for conversion (Causes) is the one page with zero content.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VISUAL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Homepage &amp; header (annotated)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6784848" cy="3623702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12700">
            <a:solidFill>
              <a:srgbClr val="D8E2E0"/>
            </a:solidFill>
            <a:prstDash val="solid"/>
          </a:ln>
        </p:spPr>
      </p:sp>
      <p:pic>
        <p:nvPicPr>
          <p:cNvPr id="5" name="Image 0" descr="/home/claude/ann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675120" cy="35139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002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600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43800" y="20208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lacks presence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43800" y="23317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icon-only mark sits inside a tall white nav bar with room to spare — easy to miss, especially on mobile.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43800" y="30175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874A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017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43800" y="34381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has no call-to-action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43800" y="37490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headline but no visible “Donate Now” / “See our causes” button in the hero itself — visitors must hunt for the next step.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VISUAL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page (annotated)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6784848" cy="3328089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2E0"/>
            </a:solidFill>
            <a:prstDash val="solid"/>
          </a:ln>
        </p:spPr>
      </p:sp>
      <p:pic>
        <p:nvPicPr>
          <p:cNvPr id="5" name="Image 0" descr="/home/claude/ann_cau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675120" cy="32183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002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600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43800" y="20208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Results” — core page is empty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43800" y="23317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literal donor-facing message on the site's most important conversion page.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43800" y="30175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874A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017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43800" y="34381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hero, minimal payoff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43800" y="37490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black banner + breadcrumb precedes the empty content area — a lot of scroll for zero information.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VISUAL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page (annotated)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6784848" cy="3409144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8E2E0"/>
            </a:solidFill>
            <a:prstDash val="solid"/>
          </a:ln>
        </p:spPr>
      </p:sp>
      <p:pic>
        <p:nvPicPr>
          <p:cNvPr id="5" name="Image 0" descr="/home/claude/ann_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675120" cy="3299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002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874A6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600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43800" y="20208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looks stale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43800" y="23317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visible events date to early 2025 — with today well past that, the org reads as inactive to a new visitor.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43800" y="30175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874A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017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43800" y="34381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 or search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43800" y="37490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tags (Community, Education) exist but aren't clickable filters — no way to browse by interest as the list grows.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VISUAL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 (annotated)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6784848" cy="3223195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E0"/>
            </a:solidFill>
            <a:prstDash val="solid"/>
          </a:ln>
        </p:spPr>
      </p:sp>
      <p:pic>
        <p:nvPicPr>
          <p:cNvPr id="5" name="Image 0" descr="/home/claude/ann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675120" cy="31134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002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600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43800" y="20208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Dead-platform social icon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43800" y="233172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Google+ icon points to a platform Google shut down years ago — an easy broken-link fix once spotted.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43800" y="30175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874A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017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43800" y="343814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low-warmth visual treatment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43800" y="37490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dark background with no accent color, pattern, or mission reminder — a missed chance to end the page on an emotional note.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6400800" cy="64008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FINDINGS TO FIXES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Redesign &amp; Wireframes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structural fixes for the two highest-impact pages, followed by a note on visual (UI) upgrades.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Homepage — fixed structure (wireframe)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2763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810512"/>
            <a:ext cx="5029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810512"/>
            <a:ext cx="5029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810512"/>
            <a:ext cx="5029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810512"/>
            <a:ext cx="5029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810512"/>
            <a:ext cx="5029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10512"/>
            <a:ext cx="5029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810512"/>
            <a:ext cx="5029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057400"/>
            <a:ext cx="11064240" cy="1417320"/>
          </a:xfrm>
          <a:prstGeom prst="rect">
            <a:avLst/>
          </a:prstGeom>
          <a:solidFill>
            <a:srgbClr val="E4EFEC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“Nurturing Young Minds, Building Bright Futures”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2788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788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Now 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611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611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78240" y="3611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2377440" cy="141732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4389120"/>
            <a:ext cx="20116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4663440"/>
            <a:ext cx="146304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4892040"/>
            <a:ext cx="17373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5120640"/>
            <a:ext cx="11887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4160520"/>
            <a:ext cx="2377440" cy="141732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4389120"/>
            <a:ext cx="20116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4663440"/>
            <a:ext cx="146304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4892040"/>
            <a:ext cx="17373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5120640"/>
            <a:ext cx="11887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4160520"/>
            <a:ext cx="2377440" cy="141732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389120"/>
            <a:ext cx="20116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4663440"/>
            <a:ext cx="146304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4892040"/>
            <a:ext cx="17373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5120640"/>
            <a:ext cx="11887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0" y="4160520"/>
            <a:ext cx="2377440" cy="141732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4389120"/>
            <a:ext cx="20116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61120" y="4663440"/>
            <a:ext cx="146304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0" y="4892040"/>
            <a:ext cx="17373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61120" y="5120640"/>
            <a:ext cx="118872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project cards, one line each — not one paragraph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page — fixed structure (wireframe)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Causes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2194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F3F2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194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2194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F3F2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2194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194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F3F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194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2194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F3F2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194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Welfare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2788920"/>
            <a:ext cx="3429000" cy="146304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926080"/>
            <a:ext cx="1005840" cy="914400"/>
          </a:xfrm>
          <a:prstGeom prst="rect">
            <a:avLst/>
          </a:prstGeom>
          <a:solidFill>
            <a:srgbClr val="DCE7E5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3017520"/>
            <a:ext cx="19659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3246120"/>
            <a:ext cx="160020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474720"/>
            <a:ext cx="13258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370332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80560" y="2788920"/>
            <a:ext cx="3429000" cy="146304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926080"/>
            <a:ext cx="1005840" cy="914400"/>
          </a:xfrm>
          <a:prstGeom prst="rect">
            <a:avLst/>
          </a:prstGeom>
          <a:solidFill>
            <a:srgbClr val="DCE7E5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017520"/>
            <a:ext cx="19659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3246120"/>
            <a:ext cx="160020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3474720"/>
            <a:ext cx="13258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370332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→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38160" y="2788920"/>
            <a:ext cx="3429000" cy="146304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2926080"/>
            <a:ext cx="1005840" cy="914400"/>
          </a:xfrm>
          <a:prstGeom prst="rect">
            <a:avLst/>
          </a:prstGeom>
          <a:solidFill>
            <a:srgbClr val="DCE7E5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8320" y="3017520"/>
            <a:ext cx="19659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8320" y="3246120"/>
            <a:ext cx="160020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18320" y="3474720"/>
            <a:ext cx="13258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320" y="370332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941832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→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2960" y="4480560"/>
            <a:ext cx="3429000" cy="146304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4617720"/>
            <a:ext cx="1005840" cy="914400"/>
          </a:xfrm>
          <a:prstGeom prst="rect">
            <a:avLst/>
          </a:prstGeom>
          <a:solidFill>
            <a:srgbClr val="DCE7E5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4709160"/>
            <a:ext cx="19659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4937760"/>
            <a:ext cx="160020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5166360"/>
            <a:ext cx="13258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539496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2103120" y="5394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→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80560" y="4480560"/>
            <a:ext cx="3429000" cy="146304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4617720"/>
            <a:ext cx="1005840" cy="914400"/>
          </a:xfrm>
          <a:prstGeom prst="rect">
            <a:avLst/>
          </a:prstGeom>
          <a:solidFill>
            <a:srgbClr val="DCE7E5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4709160"/>
            <a:ext cx="19659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4937760"/>
            <a:ext cx="160020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5166360"/>
            <a:ext cx="13258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0" y="539496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</p:sp>
      <p:sp>
        <p:nvSpPr>
          <p:cNvPr id="52" name="Text 50"/>
          <p:cNvSpPr/>
          <p:nvPr/>
        </p:nvSpPr>
        <p:spPr>
          <a:xfrm>
            <a:off x="5760720" y="5394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→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138160" y="4480560"/>
            <a:ext cx="3429000" cy="1463040"/>
          </a:xfrm>
          <a:prstGeom prst="rect">
            <a:avLst/>
          </a:prstGeom>
          <a:solidFill>
            <a:srgbClr val="EDF3F2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75320" y="4617720"/>
            <a:ext cx="1005840" cy="914400"/>
          </a:xfrm>
          <a:prstGeom prst="rect">
            <a:avLst/>
          </a:prstGeom>
          <a:solidFill>
            <a:srgbClr val="DCE7E5"/>
          </a:solidFill>
          <a:ln w="12700">
            <a:solidFill>
              <a:srgbClr val="B9C4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18320" y="4709160"/>
            <a:ext cx="196596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18320" y="4937760"/>
            <a:ext cx="160020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18320" y="5166360"/>
            <a:ext cx="1325880" cy="0"/>
          </a:xfrm>
          <a:prstGeom prst="line">
            <a:avLst/>
          </a:prstGeom>
          <a:noFill/>
          <a:ln w="19050">
            <a:solidFill>
              <a:srgbClr val="B9C4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18320" y="539496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</p:sp>
      <p:sp>
        <p:nvSpPr>
          <p:cNvPr id="59" name="Text 57"/>
          <p:cNvSpPr/>
          <p:nvPr/>
        </p:nvSpPr>
        <p:spPr>
          <a:xfrm>
            <a:off x="9418320" y="5394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→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UI itself can be elevated, too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broken pages is necessary but not sufficient. The visual language — color, type, imagery — can do more to communicate hope and empathy, which matters for an NGO donation site.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868680" cy="868680"/>
          </a:xfrm>
          <a:prstGeom prst="rect">
            <a:avLst/>
          </a:prstGeom>
          <a:solidFill>
            <a:srgbClr val="2ECC7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468880"/>
            <a:ext cx="8686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4688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468880"/>
            <a:ext cx="868680" cy="868680"/>
          </a:xfrm>
          <a:prstGeom prst="rect">
            <a:avLst/>
          </a:prstGeom>
          <a:solidFill>
            <a:srgbClr val="55555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74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green + black/white — functional, but reads more “corporate template” than “warm and human.”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86868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2468880"/>
            <a:ext cx="86868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468880"/>
            <a:ext cx="868680" cy="868680"/>
          </a:xfrm>
          <a:prstGeom prst="rect">
            <a:avLst/>
          </a:prstGeom>
          <a:solidFill>
            <a:srgbClr val="F4A25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2468880"/>
            <a:ext cx="868680" cy="868680"/>
          </a:xfrm>
          <a:prstGeom prst="rect">
            <a:avLst/>
          </a:prstGeom>
          <a:solidFill>
            <a:srgbClr val="F7FA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474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+ warm terracotta accent, softer neutrals — trustworthy and hopeful without losing energy.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7200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worth doing: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real photography over stock-feeling crops, a consistent heading typeface (currently mixed), and softer card shadows instead of hard borders — small details that add up to “premium and human” rather than “default template.”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vs. effort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1554480"/>
            <a:ext cx="5852160" cy="4206240"/>
          </a:xfrm>
          <a:prstGeom prst="rect">
            <a:avLst/>
          </a:prstGeom>
          <a:solidFill>
            <a:srgbClr val="F7FAF9"/>
          </a:solidFill>
          <a:ln w="12700">
            <a:solidFill>
              <a:srgbClr val="D8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3657600"/>
            <a:ext cx="5852160" cy="0"/>
          </a:xfrm>
          <a:prstGeom prst="line">
            <a:avLst/>
          </a:prstGeom>
          <a:noFill/>
          <a:ln w="12700">
            <a:solidFill>
              <a:srgbClr val="C7D3D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937760" y="1554480"/>
            <a:ext cx="0" cy="4206240"/>
          </a:xfrm>
          <a:prstGeom prst="line">
            <a:avLst/>
          </a:prstGeom>
          <a:noFill/>
          <a:ln w="12700">
            <a:solidFill>
              <a:srgbClr val="C7D3D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5440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5852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5852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1986077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1931213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spam links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2743200"/>
            <a:ext cx="146304" cy="14630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688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social links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01568" y="3247949"/>
            <a:ext cx="146304" cy="14630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6" name="Text 14"/>
          <p:cNvSpPr/>
          <p:nvPr/>
        </p:nvSpPr>
        <p:spPr>
          <a:xfrm>
            <a:off x="3584448" y="3193085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logo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42432" y="211226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Causes page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57216" y="2953512"/>
            <a:ext cx="146304" cy="14630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20" name="Text 18"/>
          <p:cNvSpPr/>
          <p:nvPr/>
        </p:nvSpPr>
        <p:spPr>
          <a:xfrm>
            <a:off x="5340096" y="28986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Per-cause donate CTA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86784" y="4005072"/>
            <a:ext cx="146304" cy="14630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22" name="Text 20"/>
          <p:cNvSpPr/>
          <p:nvPr/>
        </p:nvSpPr>
        <p:spPr>
          <a:xfrm>
            <a:off x="4169664" y="39502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up homepage copy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94176" y="4762195"/>
            <a:ext cx="146304" cy="146304"/>
          </a:xfrm>
          <a:prstGeom prst="ellipse">
            <a:avLst/>
          </a:prstGeom>
          <a:solidFill>
            <a:srgbClr val="2874A6"/>
          </a:solidFill>
          <a:ln/>
        </p:spPr>
      </p:sp>
      <p:sp>
        <p:nvSpPr>
          <p:cNvPr id="24" name="Text 22"/>
          <p:cNvSpPr/>
          <p:nvPr/>
        </p:nvSpPr>
        <p:spPr>
          <a:xfrm>
            <a:off x="3877056" y="470733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on stat block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4425696"/>
            <a:ext cx="146304" cy="146304"/>
          </a:xfrm>
          <a:prstGeom prst="ellipse">
            <a:avLst/>
          </a:prstGeom>
          <a:solidFill>
            <a:srgbClr val="2874A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370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events + filters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27648" y="5056632"/>
            <a:ext cx="146304" cy="146304"/>
          </a:xfrm>
          <a:prstGeom prst="ellipse">
            <a:avLst/>
          </a:prstGeom>
          <a:solidFill>
            <a:srgbClr val="2874A6"/>
          </a:solidFill>
          <a:ln/>
        </p:spPr>
      </p:sp>
      <p:sp>
        <p:nvSpPr>
          <p:cNvPr id="28" name="Text 26"/>
          <p:cNvSpPr/>
          <p:nvPr/>
        </p:nvSpPr>
        <p:spPr>
          <a:xfrm>
            <a:off x="6510528" y="5001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color palette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052560" y="2011680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first: Urgent + High-impact/low-effort. “Build Causes page” costs more effort but unlocks the whole funnel — next priority after the quick fixes.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Action-ordered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spam injection (security)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the Causes page with real content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920240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D6891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20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social links (incl. dead Google+ icon)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/ strengthen the logo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per-cause donate CTAs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up dense homepage copy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7FAF9"/>
          </a:solidFill>
          <a:ln w="12700">
            <a:solidFill>
              <a:srgbClr val="E2E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920240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2874A6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920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icons to impact stats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the color palette + typography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&amp; filter events listing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footer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audit to a working 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study is Chapter 1. Chapter 2 is a redesigned, functional demo of the Homepage and Causes page — built to show, not just tell, how these fixes come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3776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urgent security/content gaps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4416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Homepage + Causes (demo)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5056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InAmigos for feedback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Bhumika Nathawat  •  linkedin.com/in/bhumikanathawat1910  •  github.com/bhumi-git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2026-07-31T09:39:50Z</dcterms:created>
  <dcterms:modified xsi:type="dcterms:W3CDTF">2026-07-31T09:39:50Z</dcterms:modified>
</cp:coreProperties>
</file>